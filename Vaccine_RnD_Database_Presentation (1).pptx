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Vaccine Research &amp; Development Database</a:t>
            </a:r>
          </a:p>
          <a:p>
            <a:pPr>
              <a:spcBef>
                <a:spcPts val="1500"/>
              </a:spcBef>
              <a:defRPr sz="2000">
                <a:solidFill>
                  <a:srgbClr val="D2E1F0"/>
                </a:solidFill>
              </a:defRPr>
            </a:pPr>
            <a:r>
              <a:t>Biotechnology Database Project — Topic 3</a:t>
            </a:r>
          </a:p>
          <a:p>
            <a:pPr>
              <a:spcBef>
                <a:spcPts val="1800"/>
              </a:spcBef>
              <a:defRPr sz="1400">
                <a:solidFill>
                  <a:srgbClr val="BED2E6"/>
                </a:solidFill>
              </a:defRPr>
            </a:pPr>
            <a:r>
              <a:t>MySQL 8.0+  |  Relational Database  |  GitHub-ready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Aptos"/>
              </a:defRPr>
            </a:pPr>
            <a:r>
              <a:t>Student: Jana Mohamed    ID: 231001670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1. Problem &amp; 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6459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5303520" cy="192024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73152" cy="1920240"/>
          </a:xfrm>
          <a:prstGeom prst="rect">
            <a:avLst/>
          </a:prstGeom>
          <a:solidFill>
            <a:srgbClr val="24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234439"/>
            <a:ext cx="4983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The problem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Vaccine R&amp;D creates connected information about candidates, antigens, formulations, batches, studies, sites, participants, safety events, and laboratory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303520" cy="192024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73152" cy="1920240"/>
          </a:xfrm>
          <a:prstGeom prst="rect">
            <a:avLst/>
          </a:prstGeom>
          <a:solidFill>
            <a:srgbClr val="30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234439"/>
            <a:ext cx="4983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Database objectives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Organize the information in a relational structure, reduce redundancy, preserve relationships, and support reliable queries and reporting.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• Model the vaccine development workflow with meaningful entities.</a:t>
            </a:r>
          </a:p>
          <a:p>
            <a:pPr>
              <a:spcAft>
                <a:spcPts val="9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• Implement PKs, FKs, UNIQUE/CHECK constraints and indexes.</a:t>
            </a:r>
          </a:p>
          <a:p>
            <a:pPr>
              <a:spcAft>
                <a:spcPts val="9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• Demonstrate 1:M and M:N relationships, 3NF, SQL operations, views and advanced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2. Database Entities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6459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210312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73152" cy="3383280"/>
          </a:xfrm>
          <a:prstGeom prst="rect">
            <a:avLst/>
          </a:prstGeom>
          <a:solidFill>
            <a:srgbClr val="30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17319"/>
            <a:ext cx="1783079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Core R&amp;D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VaccineCandidate</a:t>
            </a:r>
            <a:br/>
            <a:r>
              <a:t>Antigen</a:t>
            </a:r>
            <a:br/>
            <a:r>
              <a:t>CandidateAntigen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1280160"/>
            <a:ext cx="210312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52928" y="1280160"/>
            <a:ext cx="73152" cy="3383280"/>
          </a:xfrm>
          <a:prstGeom prst="rect">
            <a:avLst/>
          </a:prstGeom>
          <a:solidFill>
            <a:srgbClr val="24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4096" y="1417319"/>
            <a:ext cx="1783079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Manufacturing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Formulation</a:t>
            </a:r>
            <a:br/>
            <a:r>
              <a:t>Batch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7216" y="1280160"/>
            <a:ext cx="210312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57216" y="1280160"/>
            <a:ext cx="73152" cy="3383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58383" y="1417319"/>
            <a:ext cx="1783079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Studies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StudyPhase</a:t>
            </a:r>
            <a:br/>
            <a:r>
              <a:t>Study</a:t>
            </a:r>
            <a:br/>
            <a:r>
              <a:t>Site</a:t>
            </a:r>
            <a:br/>
            <a:r>
              <a:t>StudySite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61504" y="1280160"/>
            <a:ext cx="210312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61504" y="1280160"/>
            <a:ext cx="73152" cy="3383280"/>
          </a:xfrm>
          <a:prstGeom prst="rect">
            <a:avLst/>
          </a:prstGeom>
          <a:solidFill>
            <a:srgbClr val="40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2" y="1417319"/>
            <a:ext cx="1783079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Participants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Participant</a:t>
            </a:r>
            <a:br/>
            <a:r>
              <a:t>StudyParticipant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65792" y="1280160"/>
            <a:ext cx="210312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65792" y="1280160"/>
            <a:ext cx="73152" cy="3383280"/>
          </a:xfrm>
          <a:prstGeom prst="rect">
            <a:avLst/>
          </a:prstGeom>
          <a:solidFill>
            <a:srgbClr val="AA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1417319"/>
            <a:ext cx="1783079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Safety &amp; Labs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AdverseEvent</a:t>
            </a:r>
            <a:br/>
            <a:r>
              <a:t>LabTest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A365D"/>
                </a:solidFill>
              </a:defRPr>
            </a:pPr>
            <a:r>
              <a:t>13 tables total • 3 associative tables for M:N relationships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3. Relationships &amp; ER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6459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097280"/>
            <a:ext cx="3246120" cy="132588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75320" y="1097280"/>
            <a:ext cx="73152" cy="1325880"/>
          </a:xfrm>
          <a:prstGeom prst="rect">
            <a:avLst/>
          </a:prstGeom>
          <a:solidFill>
            <a:srgbClr val="24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76488" y="1234439"/>
            <a:ext cx="2926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Candidate ↔ Antigen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M:N → CandidateAntigen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2651760"/>
            <a:ext cx="3246120" cy="132588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75320" y="2651760"/>
            <a:ext cx="73152" cy="1325880"/>
          </a:xfrm>
          <a:prstGeom prst="rect">
            <a:avLst/>
          </a:prstGeom>
          <a:solidFill>
            <a:srgbClr val="30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6488" y="2788920"/>
            <a:ext cx="2926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Study ↔ Site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M:N → StudySite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4206240"/>
            <a:ext cx="3246120" cy="132588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4206240"/>
            <a:ext cx="73152" cy="1325880"/>
          </a:xfrm>
          <a:prstGeom prst="rect">
            <a:avLst/>
          </a:prstGeom>
          <a:solidFill>
            <a:srgbClr val="40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4343400"/>
            <a:ext cx="2926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Study ↔ Participant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M:N → StudyParticipant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4. Relational Design &amp; 3NF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6459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429000" cy="448056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73152" cy="4480560"/>
          </a:xfrm>
          <a:prstGeom prst="rect">
            <a:avLst/>
          </a:prstGeom>
          <a:solidFill>
            <a:srgbClr val="30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234439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Primary keys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Every table has a PK. Associative tables use composite PKs to identify each relationship uniquely.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97280"/>
            <a:ext cx="3429000" cy="448056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097280"/>
            <a:ext cx="73152" cy="4480560"/>
          </a:xfrm>
          <a:prstGeom prst="rect">
            <a:avLst/>
          </a:prstGeom>
          <a:solidFill>
            <a:srgbClr val="24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234439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Foreign keys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FKs connect related tables and preserve referential integrity, for example Study → VaccineCandidate and Batch → Formulation.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97280"/>
            <a:ext cx="3429000" cy="448056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73152" cy="4480560"/>
          </a:xfrm>
          <a:prstGeom prst="rect">
            <a:avLst/>
          </a:prstGeom>
          <a:solidFill>
            <a:srgbClr val="40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234439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Normalization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1NF: atomic fields.</a:t>
            </a:r>
            <a:br/>
            <a:br/>
            <a:r>
              <a:t>2NF: full dependency on composite keys.</a:t>
            </a:r>
            <a:br/>
            <a:br/>
            <a:r>
              <a:t>3NF: non-key attributes depend on the key, not on another non-key attribute.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5. Implementation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6459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324612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73152" cy="1600200"/>
          </a:xfrm>
          <a:prstGeom prst="rect">
            <a:avLst/>
          </a:prstGeom>
          <a:solidFill>
            <a:srgbClr val="30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25880"/>
            <a:ext cx="2926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Step 1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Create database &amp; tables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188720"/>
            <a:ext cx="324612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188720"/>
            <a:ext cx="73152" cy="1600200"/>
          </a:xfrm>
          <a:prstGeom prst="rect">
            <a:avLst/>
          </a:prstGeom>
          <a:solidFill>
            <a:srgbClr val="24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325880"/>
            <a:ext cx="2926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Step 2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Add PK/FK &amp; constraints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188720"/>
            <a:ext cx="324612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188720"/>
            <a:ext cx="73152" cy="1600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325880"/>
            <a:ext cx="2926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Step 3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Load synthetic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29000"/>
            <a:ext cx="324612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29000"/>
            <a:ext cx="73152" cy="1600200"/>
          </a:xfrm>
          <a:prstGeom prst="rect">
            <a:avLst/>
          </a:prstGeom>
          <a:solidFill>
            <a:srgbClr val="40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566160"/>
            <a:ext cx="2926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Step 4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Create views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429000"/>
            <a:ext cx="324612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3429000"/>
            <a:ext cx="73152" cy="1600200"/>
          </a:xfrm>
          <a:prstGeom prst="rect">
            <a:avLst/>
          </a:prstGeom>
          <a:solidFill>
            <a:srgbClr val="AA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7" y="3566160"/>
            <a:ext cx="2926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Step 5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Create trigger + procedure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429000"/>
            <a:ext cx="324612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3429000"/>
            <a:ext cx="73152" cy="1600200"/>
          </a:xfrm>
          <a:prstGeom prst="rect">
            <a:avLst/>
          </a:prstGeom>
          <a:solidFill>
            <a:srgbClr val="30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3566160"/>
            <a:ext cx="2926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Step 6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Run tests &amp; queries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8"/>
                </a:solidFill>
              </a:defRPr>
            </a:pPr>
            <a:r>
              <a:t>SQL files: create_tables.sql • load_data.sql • queries.sql • views.sql • triggers_procedures.sql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6. Data &amp; SQL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6459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383280" cy="448056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73152" cy="4480560"/>
          </a:xfrm>
          <a:prstGeom prst="rect">
            <a:avLst/>
          </a:prstGeom>
          <a:solidFill>
            <a:srgbClr val="24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234439"/>
            <a:ext cx="30632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Synthetic data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10 candidates • 10 antigens • 10 formulations • 10 batches • 10 sites • 10 studies • 12 participants • safety &amp; lab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97280"/>
            <a:ext cx="3383280" cy="448056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097280"/>
            <a:ext cx="73152" cy="4480560"/>
          </a:xfrm>
          <a:prstGeom prst="rect">
            <a:avLst/>
          </a:prstGeom>
          <a:solidFill>
            <a:srgbClr val="30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234439"/>
            <a:ext cx="30632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SQL operations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SELECT</a:t>
            </a:r>
            <a:br/>
            <a:r>
              <a:t>JOIN</a:t>
            </a:r>
            <a:br/>
            <a:r>
              <a:t>Aggregation</a:t>
            </a:r>
            <a:br/>
            <a:r>
              <a:t>M:N JOIN</a:t>
            </a:r>
            <a:br/>
            <a:r>
              <a:t>Nested query</a:t>
            </a:r>
            <a:br/>
            <a:r>
              <a:t>INSERT / UPDATE / DELETE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97280"/>
            <a:ext cx="3383280" cy="448056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73152" cy="4480560"/>
          </a:xfrm>
          <a:prstGeom prst="rect">
            <a:avLst/>
          </a:prstGeom>
          <a:solidFill>
            <a:srgbClr val="40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234439"/>
            <a:ext cx="30632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Integrity checks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Foreign keys protect relationships.</a:t>
            </a:r>
            <a:br/>
            <a:br/>
            <a:r>
              <a:t>UNIQUE constraints prevent duplicate codes.</a:t>
            </a:r>
            <a:br/>
            <a:br/>
            <a:r>
              <a:t>CHECK constraints validate important values and dates.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7. Advanced Database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6459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429768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73152" cy="4297680"/>
          </a:xfrm>
          <a:prstGeom prst="rect">
            <a:avLst/>
          </a:prstGeom>
          <a:solidFill>
            <a:srgbClr val="30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371600"/>
            <a:ext cx="30632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View 1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vw_candidate_pipeline</a:t>
            </a:r>
            <a:br/>
            <a:br/>
            <a:r>
              <a:t>Summarizes vaccine candidates and the number of associated studies.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383280" cy="429768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73152" cy="4297680"/>
          </a:xfrm>
          <a:prstGeom prst="rect">
            <a:avLst/>
          </a:prstGeom>
          <a:solidFill>
            <a:srgbClr val="24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371600"/>
            <a:ext cx="30632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View 2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vw_study_safety_summary</a:t>
            </a:r>
            <a:br/>
            <a:br/>
            <a:r>
              <a:t>Summarizes study enrollment and adverse-event 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34440"/>
            <a:ext cx="3383280" cy="429768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234440"/>
            <a:ext cx="73152" cy="4297680"/>
          </a:xfrm>
          <a:prstGeom prst="rect">
            <a:avLst/>
          </a:prstGeom>
          <a:solidFill>
            <a:srgbClr val="40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371600"/>
            <a:ext cx="30632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Trigger + Procedure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Trigger validates batch expiry &gt; manufacture date.</a:t>
            </a:r>
            <a:br/>
            <a:br/>
            <a:r>
              <a:t>Stored procedure reports study enrollment and remaining slots.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8. GitHub Repository &amp;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6459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212080" cy="452628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73152" cy="4526280"/>
          </a:xfrm>
          <a:prstGeom prst="rect">
            <a:avLst/>
          </a:prstGeom>
          <a:solidFill>
            <a:srgbClr val="30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188719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Repository structure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README.md</a:t>
            </a:r>
            <a:br/>
            <a:r>
              <a:t>report.md</a:t>
            </a:r>
            <a:br/>
            <a:r>
              <a:t>sql/</a:t>
            </a:r>
            <a:br/>
            <a:r>
              <a:t>  create_tables.sql</a:t>
            </a:r>
            <a:br/>
            <a:r>
              <a:t>  load_data.sql</a:t>
            </a:r>
            <a:br/>
            <a:r>
              <a:t>  queries.sql</a:t>
            </a:r>
            <a:br/>
            <a:r>
              <a:t>  views.sql</a:t>
            </a:r>
            <a:br/>
            <a:r>
              <a:t>  triggers_procedures.sql</a:t>
            </a:r>
            <a:br/>
            <a:r>
              <a:t>diagrams/ERD.png</a:t>
            </a:r>
            <a:br/>
            <a:r>
              <a:t>src/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51560"/>
            <a:ext cx="5212080" cy="452628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051560"/>
            <a:ext cx="73152" cy="4526280"/>
          </a:xfrm>
          <a:prstGeom prst="rect">
            <a:avLst/>
          </a:prstGeom>
          <a:solidFill>
            <a:srgbClr val="24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188719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Aptos Display"/>
              </a:defRPr>
            </a:pPr>
            <a:r>
              <a:t>Upload workflow</a:t>
            </a:r>
          </a:p>
          <a:p>
            <a:pPr>
              <a:spcBef>
                <a:spcPts val="700"/>
              </a:spcBef>
              <a:defRPr sz="1250">
                <a:solidFill>
                  <a:srgbClr val="232B34"/>
                </a:solidFill>
                <a:latin typeface="Aptos"/>
              </a:defRPr>
            </a:pPr>
            <a:r>
              <a:t>1. Create a Public repository.</a:t>
            </a:r>
            <a:br/>
            <a:r>
              <a:t>2. Extract the ZIP file.</a:t>
            </a:r>
            <a:br/>
            <a:r>
              <a:t>3. Upload the extracted contents, not only the ZIP.</a:t>
            </a:r>
            <a:br/>
            <a:r>
              <a:t>4. Commit the files.</a:t>
            </a:r>
            <a:br/>
            <a:r>
              <a:t>5. Verify SQL files and ERD.</a:t>
            </a:r>
            <a:br/>
            <a:r>
              <a:t>6. Add the final presentation before submission.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058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10241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The database represents a realistic vaccine R&amp;D workflow using 13 relational tables.</a:t>
            </a:r>
          </a:p>
          <a:p>
            <a:pPr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PKs, FKs, constraints, associative tables and 3NF provide a structured design.</a:t>
            </a:r>
          </a:p>
          <a:p>
            <a:pPr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SQL queries, two views, a trigger and a stored procedure demonstrate functionality.</a:t>
            </a:r>
          </a:p>
          <a:p>
            <a:pPr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The project is organized for reproducibility and presentation through GitHub.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120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EDCEB"/>
                </a:solidFill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