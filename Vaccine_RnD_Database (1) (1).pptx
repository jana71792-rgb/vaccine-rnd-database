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4023360" cy="40233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4785" y="105156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914" y="1402690"/>
            <a:ext cx="760781" cy="760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889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RESEARCH &amp; DEVELOPMENT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Vaccine R&amp;D Database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645920" y="4160520"/>
            <a:ext cx="8897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Relational Database for Vaccine Candidates, Clinical Studies,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Participants, and Safety Monitoring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16145" y="5166360"/>
            <a:ext cx="2560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349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•  Biotechnology Database Project — Topic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relational database, and what this system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0F7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16347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9718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4617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generates deeply linked data: candidates, antigens, formulations, manufacturing batches, studies, research sites, anonymized participants, adverse events, and lab tests. Spreadsheets cannot enforce the relationships between these records or guarantee data integrity as the pipeline scales.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9659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470" y="2163470"/>
            <a:ext cx="427939" cy="42793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37960" y="1965960"/>
            <a:ext cx="822960" cy="8229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37960" y="29718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6537960" y="35295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6793992" y="34015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educational records only — no real patient data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537960" y="40599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4"/>
          <p:cNvSpPr/>
          <p:nvPr/>
        </p:nvSpPr>
        <p:spPr>
          <a:xfrm>
            <a:off x="6793992" y="39319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preclinical through clinical development and post-marketing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537960" y="4590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6793992" y="446227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identifiers are fully anonymized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537960" y="51206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6793992" y="499262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at least Third Normal Form (3NF)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37960" y="56509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/>
          <p:nvPr/>
        </p:nvSpPr>
        <p:spPr>
          <a:xfrm>
            <a:off x="6793992" y="552297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on MySQL 8.0+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composition of the 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/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96312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496312" y="21488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587752" y="3108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(M:N) Tables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43984" y="21488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35424" y="3108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91656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21488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83096" y="3108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39328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1488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430768" y="3108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287000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0" y="21488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0378440" y="3108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for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Lifecycle Coverage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2048256" cy="777240"/>
          </a:xfrm>
          <a:prstGeom prst="roundRect">
            <a:avLst>
              <a:gd name="adj" fmla="val 9412"/>
            </a:avLst>
          </a:prstGeom>
          <a:solidFill>
            <a:srgbClr val="E4F1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091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24912" y="4709160"/>
            <a:ext cx="2048256" cy="777240"/>
          </a:xfrm>
          <a:prstGeom prst="roundRect">
            <a:avLst>
              <a:gd name="adj" fmla="val 9412"/>
            </a:avLst>
          </a:prstGeom>
          <a:solidFill>
            <a:srgbClr val="E4F1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47091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01184" y="4709160"/>
            <a:ext cx="2048256" cy="777240"/>
          </a:xfrm>
          <a:prstGeom prst="roundRect">
            <a:avLst>
              <a:gd name="adj" fmla="val 9412"/>
            </a:avLst>
          </a:prstGeom>
          <a:solidFill>
            <a:srgbClr val="E4F1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47091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77456" y="4709160"/>
            <a:ext cx="2048256" cy="777240"/>
          </a:xfrm>
          <a:prstGeom prst="roundRect">
            <a:avLst>
              <a:gd name="adj" fmla="val 9412"/>
            </a:avLst>
          </a:prstGeom>
          <a:solidFill>
            <a:srgbClr val="E4F1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77456" y="47091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253728" y="4709160"/>
            <a:ext cx="2048256" cy="777240"/>
          </a:xfrm>
          <a:prstGeom prst="roundRect">
            <a:avLst>
              <a:gd name="adj" fmla="val 9412"/>
            </a:avLst>
          </a:prstGeom>
          <a:solidFill>
            <a:srgbClr val="E4F1F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53728" y="47091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Model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entities organized into three functional domains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0F7F7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0116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1583" y="22201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Manufacturing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68680" y="3749040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7490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VaccineCandidate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4224528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2245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4700016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70001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CandidateAntigen (M:N)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5175504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517550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8680" y="5650992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56509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434840" y="169164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0F7F7"/>
          </a:solidFill>
          <a:ln/>
        </p:spPr>
      </p:sp>
      <p:sp>
        <p:nvSpPr>
          <p:cNvPr id="19" name="Shape 16"/>
          <p:cNvSpPr/>
          <p:nvPr/>
        </p:nvSpPr>
        <p:spPr>
          <a:xfrm>
            <a:off x="5829300" y="201168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783" y="2220163"/>
            <a:ext cx="451714" cy="45171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Operations</a:t>
            </a:r>
            <a:endParaRPr lang="en-US" sz="1650" dirty="0"/>
          </a:p>
        </p:txBody>
      </p:sp>
      <p:sp>
        <p:nvSpPr>
          <p:cNvPr id="22" name="Shape 18"/>
          <p:cNvSpPr/>
          <p:nvPr/>
        </p:nvSpPr>
        <p:spPr>
          <a:xfrm>
            <a:off x="4754880" y="3749040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37490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754880" y="4224528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92040" y="42245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StudyPhase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754880" y="4700016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92040" y="470001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754880" y="5175504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92040" y="517550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StudySite (M:N)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321040" y="169164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0F7F7"/>
          </a:solidFill>
          <a:ln/>
        </p:spPr>
      </p:sp>
      <p:sp>
        <p:nvSpPr>
          <p:cNvPr id="31" name="Shape 27"/>
          <p:cNvSpPr/>
          <p:nvPr/>
        </p:nvSpPr>
        <p:spPr>
          <a:xfrm>
            <a:off x="9715500" y="2011680"/>
            <a:ext cx="868680" cy="868680"/>
          </a:xfrm>
          <a:prstGeom prst="ellipse">
            <a:avLst/>
          </a:prstGeom>
          <a:solidFill>
            <a:srgbClr val="025E63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983" y="2220163"/>
            <a:ext cx="451714" cy="45171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45820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Participants &amp; Safety</a:t>
            </a:r>
            <a:endParaRPr lang="en-US" sz="1650" dirty="0"/>
          </a:p>
        </p:txBody>
      </p:sp>
      <p:sp>
        <p:nvSpPr>
          <p:cNvPr id="34" name="Shape 29"/>
          <p:cNvSpPr/>
          <p:nvPr/>
        </p:nvSpPr>
        <p:spPr>
          <a:xfrm>
            <a:off x="8641080" y="3749040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778240" y="37490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641080" y="4224528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778240" y="42245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StudyParticipant (M:N)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641080" y="4700016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778240" y="470001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AdverseEvent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8641080" y="5175504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DE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778240" y="517550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LabTest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keys, foreign keys, and table structure across the schema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5074920"/>
          </a:xfrm>
          <a:prstGeom prst="roundRect">
            <a:avLst>
              <a:gd name="adj" fmla="val 1441"/>
            </a:avLst>
          </a:prstGeom>
          <a:solidFill>
            <a:srgbClr val="FAFDFD"/>
          </a:solidFill>
          <a:ln w="12700">
            <a:solidFill>
              <a:srgbClr val="DCEDEC"/>
            </a:solidFill>
            <a:prstDash val="solid"/>
          </a:ln>
        </p:spPr>
      </p:sp>
      <p:pic>
        <p:nvPicPr>
          <p:cNvPr id="5" name="Image 0" descr="/home/claude/vaccine_db/Vaccine_RnD_Database_GitHub/diagrams/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10817352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Relationships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structure and many-to-many links via associative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0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42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1422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VaccineCandidate → Formulation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392424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→ Batch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904488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VaccineCandidate → Study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416552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StudyPhase → Study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928616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StudyParticipant → AdverseEvent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5440680"/>
            <a:ext cx="4617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StudyParticipant → LabTest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028090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1984248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248" y="2142256"/>
            <a:ext cx="342351" cy="3423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198424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537960" y="2880360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VaccineCandidate ↔ Antigen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37960" y="320954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CandidateAntigen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37960" y="3630168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↔ Site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37960" y="395935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StudySite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537960" y="4379976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↔ Participant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37960" y="470916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StudyParticipant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37960" y="5221224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tables resolve every many-to-many relationship, each carrying its own descriptive attributes (e.g., dose, enrollment date, treatment group).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Constraints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schema enforces correctness at the database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" cy="658368"/>
          </a:xfrm>
          <a:prstGeom prst="ellipse">
            <a:avLst/>
          </a:prstGeom>
          <a:solidFill>
            <a:srgbClr val="F0F7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895368"/>
            <a:ext cx="342351" cy="3423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658368" cy="658368"/>
          </a:xfrm>
          <a:prstGeom prst="ellipse">
            <a:avLst/>
          </a:prstGeom>
          <a:ln w="15875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171907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&amp; Foreign Keys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66360" y="1719072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surrogate primary key; foreign keys enforce valid references between related tables (e.g., Batch → Formulation).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79776"/>
            <a:ext cx="658368" cy="658368"/>
          </a:xfrm>
          <a:prstGeom prst="ellipse">
            <a:avLst/>
          </a:prstGeom>
          <a:solidFill>
            <a:srgbClr val="F0F7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2937784"/>
            <a:ext cx="342351" cy="34235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2779776"/>
            <a:ext cx="658368" cy="658368"/>
          </a:xfrm>
          <a:prstGeom prst="ellipse">
            <a:avLst/>
          </a:prstGeom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417320" y="2761488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Constraints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66360" y="2761488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candidate_code, antigen_name, formulation_code, batch_code, study_code, site_code, and anonymized_code are all guaranteed unique.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22192"/>
            <a:ext cx="658368" cy="658368"/>
          </a:xfrm>
          <a:prstGeom prst="ellipse">
            <a:avLst/>
          </a:prstGeom>
          <a:solidFill>
            <a:srgbClr val="F0F7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3980200"/>
            <a:ext cx="342351" cy="3423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3822192"/>
            <a:ext cx="658368" cy="658368"/>
          </a:xfrm>
          <a:prstGeom prst="ellipse">
            <a:avLst/>
          </a:prstGeom>
          <a:ln w="15875">
            <a:solidFill>
              <a:srgbClr val="02809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417320" y="3803904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Constraints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166360" y="3803904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business rules: quantity &gt; 0, expiry_date &gt; manufacture_date, participant age between 18–80, sex in (F, M, O), target_enrollment &gt; 0.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64608"/>
            <a:ext cx="658368" cy="658368"/>
          </a:xfrm>
          <a:prstGeom prst="ellipse">
            <a:avLst/>
          </a:prstGeom>
          <a:solidFill>
            <a:srgbClr val="F0F7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5022616"/>
            <a:ext cx="342351" cy="34235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8640" y="4864608"/>
            <a:ext cx="658368" cy="658368"/>
          </a:xfrm>
          <a:prstGeom prst="ellipse">
            <a:avLst/>
          </a:prstGeom>
          <a:ln w="15875">
            <a:solidFill>
              <a:srgbClr val="02809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417320" y="4846320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Safety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166360" y="4846320"/>
            <a:ext cx="6492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foreign keys on AdverseEvent and LabTest reference StudyParticipant by (study_id, participant_id) together, preventing orphaned safety records.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Views, Trigger &amp; Stored Procedure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logic built into the database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vw_candidate_pipeline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each vaccine candidate with its platform, target disease, development stage, and total study count.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vw_study_safety_summary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46520" y="26974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enrolled participants and adverse events per study, split out by moderate and severe severity.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0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069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2226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690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trg_batch_dates (Trigger)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8680" y="48006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BEFORE INSERT on Batch. Rejects any batch whose expiry_date is not later than its manufacture_date, signaling a custom SQL error.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37947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0F7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069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42226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690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sp_study_enrollment (Procedure)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46520" y="48006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study_id, returns target enrollment, current enrollment, and remaining slots — computed live from StudyParticipant.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Operations Demonstrated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queries.sql exercises the full range of retrieval and manipulation statements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737360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filtered retrieval (WHERE ... IN)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212848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 (candidates + studies)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15768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688336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with GROUP BY / ORDER BY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91256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3163824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JOIN (candidate antigens)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66744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3639312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 (candidates with 2+ studies)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1764792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764792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65392" y="1737360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aggregation by test type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2240280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240280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2212848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roll-up: adverse events per study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2715768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2715768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65392" y="2688336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 lifecycle test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3191256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191256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65392" y="3163824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queries (both reporting views)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26480" y="3666744"/>
            <a:ext cx="329184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666744"/>
            <a:ext cx="32918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65392" y="3639312"/>
            <a:ext cx="4892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call (CALL sp_study_enrollment)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023436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49884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Nested query: candidates with more than one study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4773168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candidate_name FROM VaccineCandidate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candidate_id IN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candidate_id FROM Study GROUP BY candidate_id HAVING COUNT(*) &gt;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4206240" cy="420624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integrity, project takeaways, and how to run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8452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to 3NF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facts live in separate tables; repeating groups are removed; every many-to-many relationship resolves through an associative table; and every non-key attribute depends only on its own table’s key.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41312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977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47091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create_tables.sql   →   2. load_data.sql   →   3. views.sql   →   4. triggers_procedures.sql   →   5. queries.sql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0" y="169164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034A4D"/>
          </a:solidFill>
          <a:ln/>
        </p:spPr>
      </p:sp>
      <p:sp>
        <p:nvSpPr>
          <p:cNvPr id="14" name="Shape 10"/>
          <p:cNvSpPr/>
          <p:nvPr/>
        </p:nvSpPr>
        <p:spPr>
          <a:xfrm>
            <a:off x="6720840" y="20116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405" y="218724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720840" y="3337560"/>
            <a:ext cx="4526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Vaccine R&amp;D Database delivers a structured relational model spanning the full database lifecycle: requirements, conceptual design, relational mapping, implementation (DDL), synthetic data loading, querying, reporting views, advanced database logic, and testing — built entirely on MySQL 8.0+.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R&amp;D DATABASE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2026-08-15T17:59:35Z</dcterms:created>
  <dcterms:modified xsi:type="dcterms:W3CDTF">2026-08-15T17:59:35Z</dcterms:modified>
</cp:coreProperties>
</file>